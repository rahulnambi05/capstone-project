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004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5DE8B-27B4-C65C-4F58-590652CAC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0D3A2-C730-09CD-2B00-47636AD0E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129E2-71B8-9D6B-7785-C78BCFBF9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3261B-4264-4613-7ABE-FDA158417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72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/ ML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System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 Matching Using Semantic Search, RAG &amp; Multi-Agent Scoring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3CB51-4F96-DD5D-CC5B-74B9DC1CB2ED}"/>
              </a:ext>
            </a:extLst>
          </p:cNvPr>
          <p:cNvSpPr txBox="1"/>
          <p:nvPr/>
        </p:nvSpPr>
        <p:spPr>
          <a:xfrm>
            <a:off x="609600" y="3983789"/>
            <a:ext cx="3384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Done by:</a:t>
            </a:r>
          </a:p>
          <a:p>
            <a:r>
              <a:rPr lang="en-IN" dirty="0">
                <a:solidFill>
                  <a:schemeClr val="bg1"/>
                </a:solidFill>
              </a:rPr>
              <a:t>	</a:t>
            </a:r>
            <a:r>
              <a:rPr lang="en-IN" dirty="0" err="1">
                <a:solidFill>
                  <a:schemeClr val="bg1"/>
                </a:solidFill>
              </a:rPr>
              <a:t>K.Rahul</a:t>
            </a:r>
            <a:r>
              <a:rPr lang="en-IN" dirty="0">
                <a:solidFill>
                  <a:schemeClr val="bg1"/>
                </a:solidFill>
              </a:rPr>
              <a:t> Nambi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18CF8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at Scale is Broken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Time Consuming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Recruiters manually review hundreds of resumes per opening, spending 6-10 seconds per resume on average.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73736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Keyword Matching Fails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880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Traditional ATS systems miss strong candidates who describe the same skills with different terminology.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73736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Inconsistent Evaluation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2880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Manual review leads to bias, fatigue-based decisions, and inconsistent scoring across candidates.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4F46E5">
              <a:alpha val="1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F46E5"/>
                </a:solidFill>
              </a:rPr>
              <a:t>Companies receive 250+ applications per job opening — 98% are rejected without proper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SOLUTION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7432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</a:rPr>
              <a:t>🧠  Semantic Search (RAG)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Natural language JD → ChromaDB vector search → top-K candidates ranked by meaning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27432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</a:rPr>
              <a:t>⚖️  AI Scoring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50% semantic similarity + 50% skill overlap scoring with explainable results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7432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</a:rPr>
              <a:t>🛡️  Smart Guardrails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148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Input validation + bias detection for age, gender and language in job descriptions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27432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</a:rPr>
              <a:t>🤖  LLM-as-Judge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5661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GPT-4o-mini evaluates soft skills: communication, leadership, problem solving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3108960"/>
            <a:ext cx="27432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</a:rPr>
              <a:t>🔌  Microservice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5661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API Gateway (8000) → Matching Service (8001) with full REST API + Swagger docs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108960"/>
            <a:ext cx="27432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</a:rPr>
              <a:t>📊  Analytics 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35661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Token usage, bias stats, soft skills trends, system health in real-time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18CF8"/>
                </a:solidFill>
              </a:rPr>
              <a:t>SYSTEM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Microservice Architecture with API Gateway Pattern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Web Frontend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(React)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4630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463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CLI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66160" y="14630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463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Mobile App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965960"/>
            <a:ext cx="0" cy="32004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0"/>
            <a:ext cx="4114800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2860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API Gateway — Port 8000  (FastAPI + CORS + Routing)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2880360"/>
            <a:ext cx="0" cy="32004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00400"/>
            <a:ext cx="41148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2004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🔧  Matching Microservice — Port 8001  (Retrieval + Scoring)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12801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41148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ChromaDB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38,063 chunks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83080" y="4114800"/>
            <a:ext cx="12801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83080" y="41148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OpenAI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GPT-4o-mini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4114800"/>
            <a:ext cx="12801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41148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Sentence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Transformers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146304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1463040"/>
            <a:ext cx="54864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508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🔒 Input Guardrails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1828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Validates JD, detects bias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260604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0" y="2606040"/>
            <a:ext cx="54864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651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📊 Analytics Dashboard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Token usage, health, bias stats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374904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0" y="3749040"/>
            <a:ext cx="54864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📖 Swagger API Docs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Auto-generated at /docs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CORE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End-to-End Data 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01168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5727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Resume Ingestion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Load 2,483 CSVs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Validate &amp; clean text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Extract metadata (GPT-4o-mini)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Chunk → 38,063 vectors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315468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155448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1554480"/>
            <a:ext cx="20116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82112" y="15727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 &amp; Storage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9192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text-embedding-3-small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79192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1536-dim vectors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79192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Store in ChromaDB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79192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Persistent on disk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53712" y="315468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18304" y="155448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1554480"/>
            <a:ext cx="20116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58384" y="15727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JD Parsing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55464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Natural language input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5464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GPT-4o-mini extracts skills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5464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Required vs preferred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5464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Experience level &amp; role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29984" y="315468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94576" y="155448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94576" y="1554480"/>
            <a:ext cx="20116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4576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534656" y="15727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Retrieval &amp; Ranking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31736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Semantic search top-30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31736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Deduplicate by resume 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31736" y="32461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50/50 score weighting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31736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▸  </a:t>
            </a:r>
            <a:r>
              <a:rPr lang="en-US" sz="1000" dirty="0">
                <a:solidFill>
                  <a:srgbClr val="94A3B8"/>
                </a:solidFill>
              </a:rPr>
              <a:t>Explainable results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18CF8"/>
                </a:solidFill>
              </a:rPr>
              <a:t>KEY DESIGN DECISIONS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Why This Decision?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81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🗄️  ChromaDB over Pinecone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Free, local, persistent — no cloud dependency. Perfect for MVP with 38K vectors.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0876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81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💰  GPT-4o-mini over GPT-4o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947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10x cheaper. Ingesting 2483 resumes cost ~$2 vs $20+. Sufficient for extraction tasks.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0604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79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✂️  500 char chunks + 50 overlap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Balances precision and context. Each chunk captures a focused skill/experience area.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6060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60604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679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⚖️  50/50 Semantic + Skill 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0449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Pure semantic misses exact skills. Pure keyword misses context. 50/50 balances both.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0332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76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🔌  Microservice over Monolith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1422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Gateway hides internals, enables independent scaling of matching service.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70332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776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🛡️  Bias Detection in Guardrails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41422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Promotes inclusive hiring by flagging age/gender/language bias before API calls.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</a:rPr>
              <a:t>CHALLENGES &amp; SOLUTIONS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Problems We Faced &amp; How We Solved Them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5636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⚠️  ChromaDB Rejected List Metadata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8470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Problem: </a:t>
            </a:r>
            <a:r>
              <a:rPr lang="en-US" sz="950" dirty="0">
                <a:solidFill>
                  <a:srgbClr val="94A3B8"/>
                </a:solidFill>
              </a:rPr>
              <a:t>During ingestion, ChromaDB crashed because top_skills was stored as a Python list. ChromaDB only accepts strings, ints, floats or booleans as metadata values.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Solution: </a:t>
            </a:r>
            <a:r>
              <a:rPr lang="en-US" sz="950" dirty="0">
                <a:solidFill>
                  <a:srgbClr val="FFFFFF"/>
                </a:solidFill>
              </a:rPr>
              <a:t>Converted all list metadata to comma-separated strings before storing. E.g. ["Python", "SQL"] → "Python, SQL". On retrieval, split back to list.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624328"/>
            <a:ext cx="8412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24328"/>
            <a:ext cx="54864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24328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67919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⚠️  LangChain Returning 0 Results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9626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Problem: </a:t>
            </a:r>
            <a:r>
              <a:rPr lang="en-US" sz="950" dirty="0">
                <a:solidFill>
                  <a:srgbClr val="94A3B8"/>
                </a:solidFill>
              </a:rPr>
              <a:t>LangChain's similarity_search_with_score was silently returning empty results even though 38,063 documents were confirmed in ChromaDB.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32644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Solution: </a:t>
            </a:r>
            <a:r>
              <a:rPr lang="en-US" sz="950" dirty="0">
                <a:solidFill>
                  <a:srgbClr val="FFFFFF"/>
                </a:solidFill>
              </a:rPr>
              <a:t>Bypassed LangChain entirely. Used ChromaDB's native .query() with raw embeddings from embed_query(). This fixed the issue immediately.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739896"/>
            <a:ext cx="8412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39896"/>
            <a:ext cx="54864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39896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7947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⚠️  90% of Resumes Tagged as Other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0782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Problem: </a:t>
            </a:r>
            <a:r>
              <a:rPr lang="en-US" sz="950" dirty="0">
                <a:solidFill>
                  <a:srgbClr val="94A3B8"/>
                </a:solidFill>
              </a:rPr>
              <a:t>GPT-4o-mini could not confidently categorize non-tech resumes (HR, Healthcare, Teaching) into specific tech role categories, tagging most as 'other'.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" y="43799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Solution: </a:t>
            </a:r>
            <a:r>
              <a:rPr lang="en-US" sz="950" dirty="0">
                <a:solidFill>
                  <a:srgbClr val="FFFFFF"/>
                </a:solidFill>
              </a:rPr>
              <a:t>Removed role_category from hard metadata filters. Instead do semantic search first then apply post-retrieval skill matching — works regardless of category tag.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18CF8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</a:t>
            </a:r>
            <a:r>
              <a:rPr lang="en-US" sz="1050" dirty="0">
                <a:solidFill>
                  <a:srgbClr val="475569"/>
                </a:solidFill>
              </a:rPr>
              <a:t>DeepEval for matching quality metrics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</a:t>
            </a:r>
            <a:r>
              <a:rPr lang="en-US" sz="1050" dirty="0">
                <a:solidFill>
                  <a:srgbClr val="475569"/>
                </a:solidFill>
              </a:rPr>
              <a:t>Cross-encoder reranking for precision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</a:t>
            </a:r>
            <a:r>
              <a:rPr lang="en-US" sz="1050" dirty="0">
                <a:solidFill>
                  <a:srgbClr val="475569"/>
                </a:solidFill>
              </a:rPr>
              <a:t>Hybrid search (vector + BM25 keyword)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</a:t>
            </a:r>
            <a:r>
              <a:rPr lang="en-US" sz="1050" dirty="0">
                <a:solidFill>
                  <a:srgbClr val="475569"/>
                </a:solidFill>
              </a:rPr>
              <a:t>Fine-tuned job-resume embeddings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5087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508760"/>
            <a:ext cx="269748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508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103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→  </a:t>
            </a:r>
            <a:r>
              <a:rPr lang="en-US" sz="1050" dirty="0">
                <a:solidFill>
                  <a:srgbClr val="475569"/>
                </a:solidFill>
              </a:rPr>
              <a:t>Interview scheduling agent integration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→  </a:t>
            </a:r>
            <a:r>
              <a:rPr lang="en-US" sz="1050" dirty="0">
                <a:solidFill>
                  <a:srgbClr val="475569"/>
                </a:solidFill>
              </a:rPr>
              <a:t>Agent-to-agent communication (A2A)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3291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→  </a:t>
            </a:r>
            <a:r>
              <a:rPr lang="en-US" sz="1050" dirty="0">
                <a:solidFill>
                  <a:srgbClr val="475569"/>
                </a:solidFill>
              </a:rPr>
              <a:t>Recruiter feedback loop for model improvement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3886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→  </a:t>
            </a:r>
            <a:r>
              <a:rPr lang="en-US" sz="1050" dirty="0">
                <a:solidFill>
                  <a:srgbClr val="475569"/>
                </a:solidFill>
              </a:rPr>
              <a:t>Culture fit evaluation agent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5087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508760"/>
            <a:ext cx="2697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508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103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r>
              <a:rPr lang="en-US" sz="1050" dirty="0">
                <a:solidFill>
                  <a:srgbClr val="475569"/>
                </a:solidFill>
              </a:rPr>
              <a:t>Real-time resume ingestion via API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r>
              <a:rPr lang="en-US" sz="1050" dirty="0">
                <a:solidFill>
                  <a:srgbClr val="475569"/>
                </a:solidFill>
              </a:rPr>
              <a:t>PDF and LinkedIn profile parsing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3291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r>
              <a:rPr lang="en-US" sz="1050" dirty="0">
                <a:solidFill>
                  <a:srgbClr val="475569"/>
                </a:solidFill>
              </a:rPr>
              <a:t>Kubernetes deployment with auto-scaling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3886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r>
              <a:rPr lang="en-US" sz="1050" dirty="0">
                <a:solidFill>
                  <a:srgbClr val="475569"/>
                </a:solidFill>
              </a:rPr>
              <a:t>Prometheus + Grafana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22CB0-DA69-48CB-2CE4-D7E57CC7F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046316-2A8D-30E0-9CCF-37624B75A425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B44315-2931-87D3-CD0B-D257895A2FD5}"/>
              </a:ext>
            </a:extLst>
          </p:cNvPr>
          <p:cNvSpPr/>
          <p:nvPr/>
        </p:nvSpPr>
        <p:spPr>
          <a:xfrm>
            <a:off x="72106" y="1054989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400" dirty="0">
                <a:solidFill>
                  <a:srgbClr val="FFFFFF"/>
                </a:solidFill>
              </a:rPr>
              <a:t>Git repo link :-https://github.com/RahulNambi05/Capstone-Project 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326A56-0A3E-90A7-DC36-1928AF54292C}"/>
              </a:ext>
            </a:extLst>
          </p:cNvPr>
          <p:cNvSpPr/>
          <p:nvPr/>
        </p:nvSpPr>
        <p:spPr>
          <a:xfrm>
            <a:off x="72106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Git Hub:-</a:t>
            </a:r>
            <a:endParaRPr lang="en-US" sz="2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2AE70F1-7363-64DF-90AA-691E9BF34E81}"/>
              </a:ext>
            </a:extLst>
          </p:cNvPr>
          <p:cNvSpPr/>
          <p:nvPr/>
        </p:nvSpPr>
        <p:spPr>
          <a:xfrm>
            <a:off x="1217458" y="3950861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BB3BC-3EE6-9357-C889-721964FD29D0}"/>
              </a:ext>
            </a:extLst>
          </p:cNvPr>
          <p:cNvSpPr/>
          <p:nvPr/>
        </p:nvSpPr>
        <p:spPr>
          <a:xfrm>
            <a:off x="-996337" y="162991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FEB7AB7-ECCA-6F67-557F-AD04F33B4E39}"/>
              </a:ext>
            </a:extLst>
          </p:cNvPr>
          <p:cNvSpPr/>
          <p:nvPr/>
        </p:nvSpPr>
        <p:spPr>
          <a:xfrm>
            <a:off x="1005840" y="43799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820638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2138613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18CF8"/>
                </a:solidFill>
              </a:rPr>
              <a:t>AI-Powered Resume Intelligence &amp; Candidate Matching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2651760"/>
            <a:ext cx="365760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46E5"/>
                </a:solidFill>
              </a:rPr>
              <a:t>Q &amp; 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Questions are welcome!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828</Words>
  <Application>Microsoft Office PowerPoint</Application>
  <PresentationFormat>On-screen Show (16:9)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Resume Intelligence &amp; Candidate Matching System</dc:title>
  <dc:subject>PptxGenJS Presentation</dc:subject>
  <dc:creator>PptxGenJS</dc:creator>
  <cp:lastModifiedBy>RAHUL NAMBI</cp:lastModifiedBy>
  <cp:revision>3</cp:revision>
  <dcterms:created xsi:type="dcterms:W3CDTF">2026-03-17T17:31:07Z</dcterms:created>
  <dcterms:modified xsi:type="dcterms:W3CDTF">2026-03-17T17:54:22Z</dcterms:modified>
</cp:coreProperties>
</file>