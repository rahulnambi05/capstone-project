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457200"/>
            <a:ext cx="3200400" cy="3200400"/>
          </a:xfrm>
          <a:prstGeom prst="ellipse">
            <a:avLst/>
          </a:prstGeom>
          <a:solidFill>
            <a:srgbClr val="4F46E5">
              <a:alpha val="15000"/>
            </a:srgbClr>
          </a:solidFill>
          <a:ln w="12700">
            <a:solidFill>
              <a:srgbClr val="4F46E5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2286000"/>
            <a:ext cx="1828800" cy="1828800"/>
          </a:xfrm>
          <a:prstGeom prst="ellipse">
            <a:avLst/>
          </a:prstGeom>
          <a:solidFill>
            <a:srgbClr val="818CF8">
              <a:alpha val="12000"/>
            </a:srgbClr>
          </a:solidFill>
          <a:ln w="12700">
            <a:solidFill>
              <a:srgbClr val="818CF8">
                <a:alpha val="1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640080"/>
            <a:ext cx="2194560" cy="347472"/>
          </a:xfrm>
          <a:prstGeom prst="roundRect">
            <a:avLst>
              <a:gd name="adj" fmla="val 26316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58368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AI / ML PROJECT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188720"/>
            <a:ext cx="6858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Resume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System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457200" y="2926080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Candidate Matching Using Semantic Search, RAG &amp; Multi-Agent Scoring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818CF8"/>
                </a:solidFill>
              </a:rPr>
              <a:t>PROBLEM STATEMENT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Hiring at Scale is Broken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737360"/>
            <a:ext cx="265176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737360"/>
            <a:ext cx="2651760" cy="7315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8745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⏱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02920" y="24688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Time Consuming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2880360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Recruiters manually review hundreds of resumes per opening, spending 6-10 seconds per resume on average.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0" y="1737360"/>
            <a:ext cx="265176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1737360"/>
            <a:ext cx="2651760" cy="7315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0" y="18745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🔍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337560" y="24688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Keyword Matching Fails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337560" y="2880360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Traditional ATS systems miss strong candidates who describe the same skills with different terminology.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35040" y="1737360"/>
            <a:ext cx="265176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35040" y="1737360"/>
            <a:ext cx="2651760" cy="7315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35040" y="18745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⚖️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172200" y="24688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Inconsistent Evaluation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172200" y="2880360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Manual review leads to bias, fatigue-based decisions, and inconsistent scoring across candidates.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4480560"/>
            <a:ext cx="8412480" cy="457200"/>
          </a:xfrm>
          <a:prstGeom prst="rect">
            <a:avLst/>
          </a:prstGeom>
          <a:solidFill>
            <a:srgbClr val="4F46E5">
              <a:alpha val="10000"/>
            </a:srgbClr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44805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F46E5"/>
                </a:solidFill>
              </a:rPr>
              <a:t>Companies receive 250+ applications per job opening — 98% are rejected without proper evaluation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FFFFF"/>
                </a:solidFill>
              </a:rPr>
              <a:t>SOLUTION OVERVIEW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9601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What We Built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691640"/>
            <a:ext cx="2743200" cy="1234440"/>
          </a:xfrm>
          <a:prstGeom prst="rect">
            <a:avLst/>
          </a:prstGeom>
          <a:solidFill>
            <a:srgbClr val="1E293B"/>
          </a:solidFill>
          <a:ln w="6350">
            <a:solidFill>
              <a:srgbClr val="4F46E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7830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18CF8"/>
                </a:solidFill>
              </a:rPr>
              <a:t>🧠  Semantic Search (RAG)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214884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Natural language JD → ChromaDB vector search → top-K candidates ranked by meaning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46120" y="1691640"/>
            <a:ext cx="2743200" cy="1234440"/>
          </a:xfrm>
          <a:prstGeom prst="rect">
            <a:avLst/>
          </a:prstGeom>
          <a:solidFill>
            <a:srgbClr val="1E293B"/>
          </a:solidFill>
          <a:ln w="6350">
            <a:solidFill>
              <a:srgbClr val="4F46E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83280" y="17830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18CF8"/>
                </a:solidFill>
              </a:rPr>
              <a:t>⚖️  AI Scoring Engine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383280" y="214884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50% semantic similarity + 50% skill overlap scoring with explainable results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126480" y="1691640"/>
            <a:ext cx="2743200" cy="1234440"/>
          </a:xfrm>
          <a:prstGeom prst="rect">
            <a:avLst/>
          </a:prstGeom>
          <a:solidFill>
            <a:srgbClr val="1E293B"/>
          </a:solidFill>
          <a:ln w="6350">
            <a:solidFill>
              <a:srgbClr val="4F46E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263640" y="17830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18CF8"/>
                </a:solidFill>
              </a:rPr>
              <a:t>🛡️  Smart Guardrails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263640" y="214884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Input validation + bias detection for age, gender and language in job descriptions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3108960"/>
            <a:ext cx="2743200" cy="1234440"/>
          </a:xfrm>
          <a:prstGeom prst="rect">
            <a:avLst/>
          </a:prstGeom>
          <a:solidFill>
            <a:srgbClr val="1E293B"/>
          </a:solidFill>
          <a:ln w="6350">
            <a:solidFill>
              <a:srgbClr val="4F46E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02920" y="32004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18CF8"/>
                </a:solidFill>
              </a:rPr>
              <a:t>🤖  LLM-as-Judge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" y="356616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GPT-4o-mini evaluates soft skills: communication, leadership, problem solving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46120" y="3108960"/>
            <a:ext cx="2743200" cy="1234440"/>
          </a:xfrm>
          <a:prstGeom prst="rect">
            <a:avLst/>
          </a:prstGeom>
          <a:solidFill>
            <a:srgbClr val="1E293B"/>
          </a:solidFill>
          <a:ln w="6350">
            <a:solidFill>
              <a:srgbClr val="4F46E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383280" y="32004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18CF8"/>
                </a:solidFill>
              </a:rPr>
              <a:t>🔌  Microservice API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383280" y="356616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API Gateway (8000) → Matching Service (8001) with full REST API + Swagger docs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126480" y="3108960"/>
            <a:ext cx="2743200" cy="1234440"/>
          </a:xfrm>
          <a:prstGeom prst="rect">
            <a:avLst/>
          </a:prstGeom>
          <a:solidFill>
            <a:srgbClr val="1E293B"/>
          </a:solidFill>
          <a:ln w="6350">
            <a:solidFill>
              <a:srgbClr val="4F46E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263640" y="32004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18CF8"/>
                </a:solidFill>
              </a:rPr>
              <a:t>📊  Analytics Dashboard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263640" y="356616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Token usage, bias stats, soft skills trends, system health in real-time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818CF8"/>
                </a:solidFill>
              </a:rPr>
              <a:t>SYSTEM ARCHITECTURE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</a:rPr>
              <a:t>Microservice Architecture with API Gateway Pattern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1371600" cy="502920"/>
          </a:xfrm>
          <a:prstGeom prst="roundRect">
            <a:avLst>
              <a:gd name="adj" fmla="val 14545"/>
            </a:avLst>
          </a:prstGeom>
          <a:solidFill>
            <a:srgbClr val="1E293B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6304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Web Frontend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(React)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011680" y="1463040"/>
            <a:ext cx="1371600" cy="502920"/>
          </a:xfrm>
          <a:prstGeom prst="roundRect">
            <a:avLst>
              <a:gd name="adj" fmla="val 14545"/>
            </a:avLst>
          </a:prstGeom>
          <a:solidFill>
            <a:srgbClr val="1E293B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11680" y="146304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CLI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566160" y="1463040"/>
            <a:ext cx="1371600" cy="502920"/>
          </a:xfrm>
          <a:prstGeom prst="roundRect">
            <a:avLst>
              <a:gd name="adj" fmla="val 14545"/>
            </a:avLst>
          </a:prstGeom>
          <a:solidFill>
            <a:srgbClr val="1E293B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66160" y="146304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Mobile App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286000" y="1965960"/>
            <a:ext cx="0" cy="320040"/>
          </a:xfrm>
          <a:prstGeom prst="line">
            <a:avLst/>
          </a:prstGeom>
          <a:noFill/>
          <a:ln w="19050">
            <a:solidFill>
              <a:srgbClr val="4F46E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2286000"/>
            <a:ext cx="4114800" cy="59436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65760" y="2286000"/>
            <a:ext cx="4114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⚡  API Gateway — Port 8000  (FastAPI + CORS + Routing)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423160" y="2880360"/>
            <a:ext cx="0" cy="320040"/>
          </a:xfrm>
          <a:prstGeom prst="line">
            <a:avLst/>
          </a:prstGeom>
          <a:noFill/>
          <a:ln w="19050">
            <a:solidFill>
              <a:srgbClr val="4F46E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3200400"/>
            <a:ext cx="4114800" cy="594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3200400"/>
            <a:ext cx="4114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🔧  Matching Microservice — Port 8001  (Retrieval + Scoring)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4114800"/>
            <a:ext cx="1280160" cy="685800"/>
          </a:xfrm>
          <a:prstGeom prst="rect">
            <a:avLst/>
          </a:prstGeom>
          <a:solidFill>
            <a:srgbClr val="1E293B"/>
          </a:solidFill>
          <a:ln w="12700">
            <a:solidFill>
              <a:srgbClr val="4F46E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65760" y="4114800"/>
            <a:ext cx="1280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ChromaDB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38,063 chunks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783080" y="4114800"/>
            <a:ext cx="1280160" cy="685800"/>
          </a:xfrm>
          <a:prstGeom prst="rect">
            <a:avLst/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1783080" y="4114800"/>
            <a:ext cx="1280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OpenAI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GPT-4o-mini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200400" y="4114800"/>
            <a:ext cx="1280160" cy="685800"/>
          </a:xfrm>
          <a:prstGeom prst="rect">
            <a:avLst/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200400" y="4114800"/>
            <a:ext cx="1280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Sentence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Transformers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029200" y="1463040"/>
            <a:ext cx="37490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029200" y="1463040"/>
            <a:ext cx="54864" cy="91440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212080" y="150876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🔒 Input Guardrails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212080" y="182880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Validates JD, detects bias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029200" y="2606040"/>
            <a:ext cx="37490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029200" y="2606040"/>
            <a:ext cx="54864" cy="91440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212080" y="265176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📊 Analytics Dashboard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212080" y="297180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Token usage, health, bias stats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029200" y="3749040"/>
            <a:ext cx="37490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029200" y="3749040"/>
            <a:ext cx="54864" cy="91440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212080" y="379476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📖 Swagger API Docs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212080" y="411480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Auto-generated at /docs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FFFFF"/>
                </a:solidFill>
              </a:rPr>
              <a:t>CORE PIPELINE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End-to-End Data Flow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554480"/>
            <a:ext cx="2011680" cy="3200400"/>
          </a:xfrm>
          <a:prstGeom prst="rect">
            <a:avLst/>
          </a:prstGeom>
          <a:solidFill>
            <a:srgbClr val="1E293B"/>
          </a:solidFill>
          <a:ln w="12700">
            <a:solidFill>
              <a:srgbClr val="4F46E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554480"/>
            <a:ext cx="2011680" cy="50292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572768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05840" y="1572768"/>
            <a:ext cx="1325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Resume Ingestion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224028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46E5"/>
                </a:solidFill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Load 2,483 CSVs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274320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46E5"/>
                </a:solidFill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Validate &amp; clean text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324612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46E5"/>
                </a:solidFill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Extract metadata (GPT-4o-mini)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" y="374904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46E5"/>
                </a:solidFill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Chunk → 38,063 vectors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377440" y="3154680"/>
            <a:ext cx="164592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542032" y="1554480"/>
            <a:ext cx="2011680" cy="3200400"/>
          </a:xfrm>
          <a:prstGeom prst="rect">
            <a:avLst/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542032" y="1554480"/>
            <a:ext cx="201168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42032" y="1572768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02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3182112" y="1572768"/>
            <a:ext cx="1325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Embedding &amp; Storage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679192" y="224028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text-embedding-3-small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679192" y="274320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1536-dim vectors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679192" y="324612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Store in ChromaDB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679192" y="374904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Persistent on disk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53712" y="3154680"/>
            <a:ext cx="164592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18304" y="1554480"/>
            <a:ext cx="2011680" cy="3200400"/>
          </a:xfrm>
          <a:prstGeom prst="rect">
            <a:avLst/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18304" y="1554480"/>
            <a:ext cx="201168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18304" y="1572768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03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5358384" y="1572768"/>
            <a:ext cx="1325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JD Parsing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55464" y="224028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Natural language input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55464" y="274320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GPT-4o-mini extracts skills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55464" y="324612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Required vs preferred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855464" y="374904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Experience level &amp; role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729984" y="3154680"/>
            <a:ext cx="164592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894576" y="1554480"/>
            <a:ext cx="2011680" cy="3200400"/>
          </a:xfrm>
          <a:prstGeom prst="rect">
            <a:avLst/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894576" y="1554480"/>
            <a:ext cx="2011680" cy="5029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94576" y="1572768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04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7534656" y="1572768"/>
            <a:ext cx="1325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Retrieval &amp; Ranking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031736" y="224028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Semantic search top-30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031736" y="274320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Deduplicate by resume ID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031736" y="324612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50/50 score weighting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031736" y="374904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Explainable results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818CF8"/>
                </a:solidFill>
              </a:rPr>
              <a:t>KEY DESIGN DECISIONS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Why This Decision?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508760"/>
            <a:ext cx="42062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508760"/>
            <a:ext cx="54864" cy="96012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58191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🗄️  ChromaDB over Pinecone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947672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Free, local, persistent — no cloud dependency. Perfect for MVP with 38K vectors.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800600" y="1508760"/>
            <a:ext cx="42062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00600" y="1508760"/>
            <a:ext cx="54864" cy="96012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83480" y="158191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💰  GPT-4o-mini over GPT-4o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83480" y="1947672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10x cheaper. Ingesting 2483 resumes cost ~$2 vs $20+. Sufficient for extraction tasks.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2606040"/>
            <a:ext cx="42062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2606040"/>
            <a:ext cx="54864" cy="96012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67919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✂️  500 char chunks + 50 overlap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3044952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Balances precision and context. Each chunk captures a focused skill/experience area.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800600" y="2606040"/>
            <a:ext cx="42062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00600" y="2606040"/>
            <a:ext cx="54864" cy="96012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83480" y="267919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⚖️  50/50 Semantic + Skill Score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83480" y="3044952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Pure semantic misses exact skills. Pure keyword misses context. 50/50 balances both.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3703320"/>
            <a:ext cx="42062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703320"/>
            <a:ext cx="54864" cy="96012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377647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🔌  Microservice over Monolith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" y="4142232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Gateway hides internals, enables independent scaling of matching service.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800600" y="3703320"/>
            <a:ext cx="42062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00600" y="3703320"/>
            <a:ext cx="54864" cy="96012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83480" y="377647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🛡️  Bias Detection in Guardrails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983480" y="4142232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Promotes inclusive hiring by flagging age/gender/language bias before API calls.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FFFFF"/>
                </a:solidFill>
              </a:rPr>
              <a:t>CHALLENGES &amp; SOLUTIONS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Problems We Faced &amp; How We Solved Them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508760"/>
            <a:ext cx="841248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508760"/>
            <a:ext cx="548640" cy="10058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508760"/>
            <a:ext cx="548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1563624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⚠️  ChromaDB Rejected List Metadata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05840" y="1847088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F4444"/>
                </a:solidFill>
              </a:rPr>
              <a:t>Problem: </a:t>
            </a:r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During ingestion, ChromaDB crashed because top_skills was stored as a Python list. ChromaDB only accepts strings, ints, floats or booleans as metadata values.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005840" y="2148840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</a:rPr>
              <a:t>Solution: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Converted all list metadata to comma-separated strings before storing. E.g. ["Python", "SQL"] → "Python, SQL". On retrieval, split back to list.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65760" y="2624328"/>
            <a:ext cx="841248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2624328"/>
            <a:ext cx="548640" cy="10058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624328"/>
            <a:ext cx="548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5840" y="2679192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⚠️  LangChain Returning 0 Results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05840" y="2962656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F4444"/>
                </a:solidFill>
              </a:rPr>
              <a:t>Problem: </a:t>
            </a:r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LangChain's similarity_search_with_score was silently returning empty results even though 38,063 documents were confirmed in ChromaDB.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005840" y="3264408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</a:rPr>
              <a:t>Solution: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Bypassed LangChain entirely. Used ChromaDB's native .query() with raw embeddings from embed_query(). This fixed the issue immediately.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65760" y="3739896"/>
            <a:ext cx="841248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3739896"/>
            <a:ext cx="548640" cy="10058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739896"/>
            <a:ext cx="548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005840" y="3794760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⚠️  90% of Resumes Tagged as Other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05840" y="4078224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F4444"/>
                </a:solidFill>
              </a:rPr>
              <a:t>Problem: </a:t>
            </a:r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GPT-4o-mini could not confidently categorize non-tech resumes (HR, Healthcare, Teaching) into specific tech role categories, tagging most as 'other'.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1005840" y="4379976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</a:rPr>
              <a:t>Solution: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Removed role_category from hard metadata filters. Instead do semantic search first then apply post-retrieval skill matching — works regardless of category tag.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818CF8"/>
                </a:solidFill>
              </a:rPr>
              <a:t>FUTURE SCOPE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</a:rPr>
              <a:t>What's Next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508760"/>
            <a:ext cx="26974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508760"/>
            <a:ext cx="2697480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50876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Phase 2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210312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9488"/>
                </a:solidFill>
              </a:rPr>
              <a:t>→  </a:t>
            </a:r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DeepEval for matching quality metrics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48640" y="269748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9488"/>
                </a:solidFill>
              </a:rPr>
              <a:t>→  </a:t>
            </a:r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Cross-encoder reranking for precision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48640" y="329184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9488"/>
                </a:solidFill>
              </a:rPr>
              <a:t>→  </a:t>
            </a:r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Hybrid search (vector + BM25 keyword)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48640" y="388620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9488"/>
                </a:solidFill>
              </a:rPr>
              <a:t>→  </a:t>
            </a:r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Fine-tuned job-resume embeddings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46120" y="1508760"/>
            <a:ext cx="26974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46120" y="1508760"/>
            <a:ext cx="2697480" cy="45720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46120" y="150876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Phase 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429000" y="210312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F46E5"/>
                </a:solidFill>
              </a:rPr>
              <a:t>→  </a:t>
            </a:r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Interview scheduling agent integration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429000" y="269748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F46E5"/>
                </a:solidFill>
              </a:rPr>
              <a:t>→  </a:t>
            </a:r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Agent-to-agent communication (A2A)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429000" y="329184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F46E5"/>
                </a:solidFill>
              </a:rPr>
              <a:t>→  </a:t>
            </a:r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Recruiter feedback loop for model improvement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429000" y="388620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F46E5"/>
                </a:solidFill>
              </a:rPr>
              <a:t>→  </a:t>
            </a:r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Culture fit evaluation agent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126480" y="1508760"/>
            <a:ext cx="26974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26480" y="1508760"/>
            <a:ext cx="2697480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26480" y="150876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Phase 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309360" y="210312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</a:rPr>
              <a:t>→  </a:t>
            </a:r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Real-time resume ingestion via API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309360" y="269748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</a:rPr>
              <a:t>→  </a:t>
            </a:r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PDF and LinkedIn profile parsing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309360" y="329184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</a:rPr>
              <a:t>→  </a:t>
            </a:r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Kubernetes deployment with auto-scaling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309360" y="388620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</a:rPr>
              <a:t>→  </a:t>
            </a:r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Prometheus + Grafana monitoring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4F46E5">
              <a:alpha val="12000"/>
            </a:srgbClr>
          </a:solidFill>
          <a:ln w="12700">
            <a:solidFill>
              <a:srgbClr val="4F46E5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2743200"/>
            <a:ext cx="3657600" cy="3657600"/>
          </a:xfrm>
          <a:prstGeom prst="ellipse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82296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914400" y="19659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18CF8"/>
                </a:solidFill>
              </a:rPr>
              <a:t>AI-Powered Resume Intelligence &amp; Candidate Matching System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743200" y="2651760"/>
            <a:ext cx="3657600" cy="0"/>
          </a:xfrm>
          <a:prstGeom prst="line">
            <a:avLst/>
          </a:prstGeom>
          <a:noFill/>
          <a:ln w="19050">
            <a:solidFill>
              <a:srgbClr val="4F46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7889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F46E5"/>
                </a:solidFill>
              </a:rPr>
              <a:t>Q &amp; A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914400" y="33832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94A3B8"/>
                </a:solidFill>
              </a:rPr>
              <a:t>Questions are welcome!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4389120"/>
            <a:ext cx="1188720" cy="347472"/>
          </a:xfrm>
          <a:prstGeom prst="roundRect">
            <a:avLst>
              <a:gd name="adj" fmla="val 21053"/>
            </a:avLst>
          </a:prstGeom>
          <a:solidFill>
            <a:srgbClr val="1E293B"/>
          </a:solidFill>
          <a:ln w="6350">
            <a:solidFill>
              <a:srgbClr val="4F46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438912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18CF8"/>
                </a:solidFill>
              </a:rPr>
              <a:t>FastAPI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993392" y="4389120"/>
            <a:ext cx="1188720" cy="347472"/>
          </a:xfrm>
          <a:prstGeom prst="roundRect">
            <a:avLst>
              <a:gd name="adj" fmla="val 21053"/>
            </a:avLst>
          </a:prstGeom>
          <a:solidFill>
            <a:srgbClr val="1E293B"/>
          </a:solidFill>
          <a:ln w="6350">
            <a:solidFill>
              <a:srgbClr val="4F46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993392" y="438912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18CF8"/>
                </a:solidFill>
              </a:rPr>
              <a:t>ChromaDB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346704" y="4389120"/>
            <a:ext cx="1188720" cy="347472"/>
          </a:xfrm>
          <a:prstGeom prst="roundRect">
            <a:avLst>
              <a:gd name="adj" fmla="val 21053"/>
            </a:avLst>
          </a:prstGeom>
          <a:solidFill>
            <a:srgbClr val="1E293B"/>
          </a:solidFill>
          <a:ln w="6350">
            <a:solidFill>
              <a:srgbClr val="4F46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46704" y="438912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18CF8"/>
                </a:solidFill>
              </a:rPr>
              <a:t>OpenAI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700016" y="4389120"/>
            <a:ext cx="1188720" cy="347472"/>
          </a:xfrm>
          <a:prstGeom prst="roundRect">
            <a:avLst>
              <a:gd name="adj" fmla="val 21053"/>
            </a:avLst>
          </a:prstGeom>
          <a:solidFill>
            <a:srgbClr val="1E293B"/>
          </a:solidFill>
          <a:ln w="6350">
            <a:solidFill>
              <a:srgbClr val="4F46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00016" y="438912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18CF8"/>
                </a:solidFill>
              </a:rPr>
              <a:t>React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053328" y="4389120"/>
            <a:ext cx="1188720" cy="347472"/>
          </a:xfrm>
          <a:prstGeom prst="roundRect">
            <a:avLst>
              <a:gd name="adj" fmla="val 21053"/>
            </a:avLst>
          </a:prstGeom>
          <a:solidFill>
            <a:srgbClr val="1E293B"/>
          </a:solidFill>
          <a:ln w="6350">
            <a:solidFill>
              <a:srgbClr val="4F46E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53328" y="438912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18CF8"/>
                </a:solidFill>
              </a:rPr>
              <a:t>LangChain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406640" y="4389120"/>
            <a:ext cx="1188720" cy="347472"/>
          </a:xfrm>
          <a:prstGeom prst="roundRect">
            <a:avLst>
              <a:gd name="adj" fmla="val 21053"/>
            </a:avLst>
          </a:prstGeom>
          <a:solidFill>
            <a:srgbClr val="1E293B"/>
          </a:solidFill>
          <a:ln w="6350">
            <a:solidFill>
              <a:srgbClr val="4F46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06640" y="438912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18CF8"/>
                </a:solidFill>
              </a:rPr>
              <a:t>Sentence-Transformers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AI-Powered Resume Intelligence &amp; Candidate Matching System</dc:title>
  <dc:subject>PptxGenJS Presentation</dc:subject>
  <dc:creator>PptxGenJS</dc:creator>
  <cp:lastModifiedBy>PptxGenJS</cp:lastModifiedBy>
  <cp:revision>1</cp:revision>
  <dcterms:created xsi:type="dcterms:W3CDTF">2026-03-17T17:31:07Z</dcterms:created>
  <dcterms:modified xsi:type="dcterms:W3CDTF">2026-03-17T17:31:07Z</dcterms:modified>
</cp:coreProperties>
</file>